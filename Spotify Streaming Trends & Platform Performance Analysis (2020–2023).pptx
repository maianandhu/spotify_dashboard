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Comfortaa Light"/>
      <p:regular r:id="rId14"/>
      <p:bold r:id="rId15"/>
    </p:embeddedFont>
    <p:embeddedFont>
      <p:font typeface="Proxima Nova"/>
      <p:regular r:id="rId16"/>
      <p:bold r:id="rId17"/>
      <p:italic r:id="rId18"/>
      <p:boldItalic r:id="rId19"/>
    </p:embeddedFont>
    <p:embeddedFont>
      <p:font typeface="Comfortaa"/>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omfortaa-regular.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Comfortaa-bold.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ComfortaaLight-bold.fntdata"/><Relationship Id="rId14" Type="http://schemas.openxmlformats.org/officeDocument/2006/relationships/font" Target="fonts/ComfortaaLight-regular.fntdata"/><Relationship Id="rId17" Type="http://schemas.openxmlformats.org/officeDocument/2006/relationships/font" Target="fonts/ProximaNova-bold.fntdata"/><Relationship Id="rId16" Type="http://schemas.openxmlformats.org/officeDocument/2006/relationships/font" Target="fonts/ProximaNova-regular.fntdata"/><Relationship Id="rId5" Type="http://schemas.openxmlformats.org/officeDocument/2006/relationships/notesMaster" Target="notesMasters/notesMaster1.xml"/><Relationship Id="rId19" Type="http://schemas.openxmlformats.org/officeDocument/2006/relationships/font" Target="fonts/ProximaNova-boldItalic.fntdata"/><Relationship Id="rId6" Type="http://schemas.openxmlformats.org/officeDocument/2006/relationships/slide" Target="slides/slide1.xml"/><Relationship Id="rId18" Type="http://schemas.openxmlformats.org/officeDocument/2006/relationships/font" Target="fonts/ProximaNova-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be7a0234d9_0_1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be7a0234d9_0_1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be7a0234d9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be7a0234d9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be7a0234d9_0_1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be7a0234d9_0_1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e7a0234d9_0_1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be7a0234d9_0_1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e7a0234d9_0_1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e7a0234d9_0_1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e7a0234d9_0_1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e7a0234d9_0_1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be7a0234d9_0_1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be7a0234d9_0_1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414"/>
        </a:solidFill>
      </p:bgPr>
    </p:bg>
    <p:spTree>
      <p:nvGrpSpPr>
        <p:cNvPr id="58" name="Shape 58"/>
        <p:cNvGrpSpPr/>
        <p:nvPr/>
      </p:nvGrpSpPr>
      <p:grpSpPr>
        <a:xfrm>
          <a:off x="0" y="0"/>
          <a:ext cx="0" cy="0"/>
          <a:chOff x="0" y="0"/>
          <a:chExt cx="0" cy="0"/>
        </a:xfrm>
      </p:grpSpPr>
      <p:sp>
        <p:nvSpPr>
          <p:cNvPr id="59" name="Google Shape;59;p13"/>
          <p:cNvSpPr/>
          <p:nvPr/>
        </p:nvSpPr>
        <p:spPr>
          <a:xfrm>
            <a:off x="54450" y="400050"/>
            <a:ext cx="2125500" cy="734700"/>
          </a:xfrm>
          <a:prstGeom prst="roundRect">
            <a:avLst>
              <a:gd fmla="val 16667" name="adj"/>
            </a:avLst>
          </a:prstGeom>
          <a:solidFill>
            <a:srgbClr val="1DB95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FF00"/>
              </a:solidFill>
            </a:endParaRPr>
          </a:p>
        </p:txBody>
      </p:sp>
      <p:sp>
        <p:nvSpPr>
          <p:cNvPr id="60" name="Google Shape;60;p13"/>
          <p:cNvSpPr txBox="1"/>
          <p:nvPr>
            <p:ph type="ctrTitle"/>
          </p:nvPr>
        </p:nvSpPr>
        <p:spPr>
          <a:xfrm>
            <a:off x="0" y="400050"/>
            <a:ext cx="8134200" cy="235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5000">
                <a:solidFill>
                  <a:schemeClr val="lt1"/>
                </a:solidFill>
              </a:rPr>
              <a:t>Spotify Streaming Trends &amp; Platform Performance Analysis (2020–2023)</a:t>
            </a:r>
            <a:endParaRPr b="1" sz="5000">
              <a:solidFill>
                <a:schemeClr val="lt1"/>
              </a:solidFill>
            </a:endParaRPr>
          </a:p>
        </p:txBody>
      </p:sp>
      <p:sp>
        <p:nvSpPr>
          <p:cNvPr id="61" name="Google Shape;61;p13"/>
          <p:cNvSpPr txBox="1"/>
          <p:nvPr>
            <p:ph idx="1" type="subTitle"/>
          </p:nvPr>
        </p:nvSpPr>
        <p:spPr>
          <a:xfrm>
            <a:off x="54450" y="3026225"/>
            <a:ext cx="4343400" cy="533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latin typeface="Comfortaa Light"/>
                <a:ea typeface="Comfortaa Light"/>
                <a:cs typeface="Comfortaa Light"/>
                <a:sym typeface="Comfortaa Light"/>
              </a:rPr>
              <a:t>By Ubed and Anand</a:t>
            </a:r>
            <a:endParaRPr>
              <a:latin typeface="Comfortaa Light"/>
              <a:ea typeface="Comfortaa Light"/>
              <a:cs typeface="Comfortaa Light"/>
              <a:sym typeface="Comfortaa Light"/>
            </a:endParaRPr>
          </a:p>
        </p:txBody>
      </p:sp>
      <p:pic>
        <p:nvPicPr>
          <p:cNvPr id="62" name="Google Shape;62;p13" title="51rttY7a 9L.png"/>
          <p:cNvPicPr preferRelativeResize="0"/>
          <p:nvPr/>
        </p:nvPicPr>
        <p:blipFill rotWithShape="1">
          <a:blip r:embed="rId3">
            <a:alphaModFix/>
          </a:blip>
          <a:srcRect b="16100" l="0" r="21352" t="0"/>
          <a:stretch/>
        </p:blipFill>
        <p:spPr>
          <a:xfrm>
            <a:off x="6027125" y="1818425"/>
            <a:ext cx="3116876" cy="3325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68" name="Google Shape;68;p14"/>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69" name="Google Shape;69;p14"/>
          <p:cNvPicPr preferRelativeResize="0"/>
          <p:nvPr/>
        </p:nvPicPr>
        <p:blipFill>
          <a:blip r:embed="rId3">
            <a:alphaModFix/>
          </a:blip>
          <a:stretch>
            <a:fillRect/>
          </a:stretch>
        </p:blipFill>
        <p:spPr>
          <a:xfrm>
            <a:off x="0" y="0"/>
            <a:ext cx="9144001"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414"/>
        </a:solidFill>
      </p:bgPr>
    </p:bg>
    <p:spTree>
      <p:nvGrpSpPr>
        <p:cNvPr id="73" name="Shape 73"/>
        <p:cNvGrpSpPr/>
        <p:nvPr/>
      </p:nvGrpSpPr>
      <p:grpSpPr>
        <a:xfrm>
          <a:off x="0" y="0"/>
          <a:ext cx="0" cy="0"/>
          <a:chOff x="0" y="0"/>
          <a:chExt cx="0" cy="0"/>
        </a:xfrm>
      </p:grpSpPr>
      <p:sp>
        <p:nvSpPr>
          <p:cNvPr id="74" name="Google Shape;74;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solidFill>
                  <a:srgbClr val="1DB954"/>
                </a:solidFill>
              </a:rPr>
              <a:t>Project Overview</a:t>
            </a:r>
            <a:endParaRPr>
              <a:solidFill>
                <a:srgbClr val="1DB954"/>
              </a:solidFill>
            </a:endParaRPr>
          </a:p>
        </p:txBody>
      </p:sp>
      <p:sp>
        <p:nvSpPr>
          <p:cNvPr id="75" name="Google Shape;75;p15"/>
          <p:cNvSpPr txBox="1"/>
          <p:nvPr>
            <p:ph idx="1" type="body"/>
          </p:nvPr>
        </p:nvSpPr>
        <p:spPr>
          <a:xfrm>
            <a:off x="311700" y="1152475"/>
            <a:ext cx="8520600" cy="212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000">
                <a:solidFill>
                  <a:srgbClr val="FCFCFC"/>
                </a:solidFill>
                <a:latin typeface="Comfortaa"/>
                <a:ea typeface="Comfortaa"/>
                <a:cs typeface="Comfortaa"/>
                <a:sym typeface="Comfortaa"/>
              </a:rPr>
              <a:t>Key Metrics (KPIs):</a:t>
            </a:r>
            <a:endParaRPr b="1" sz="2000">
              <a:solidFill>
                <a:srgbClr val="FCFCFC"/>
              </a:solidFill>
              <a:latin typeface="Comfortaa"/>
              <a:ea typeface="Comfortaa"/>
              <a:cs typeface="Comfortaa"/>
              <a:sym typeface="Comfortaa"/>
            </a:endParaRPr>
          </a:p>
          <a:p>
            <a:pPr indent="-355600" lvl="0" marL="457200" rtl="0" algn="l">
              <a:spcBef>
                <a:spcPts val="1200"/>
              </a:spcBef>
              <a:spcAft>
                <a:spcPts val="0"/>
              </a:spcAft>
              <a:buClr>
                <a:srgbClr val="FCFCFC"/>
              </a:buClr>
              <a:buSzPts val="2000"/>
              <a:buFont typeface="Comfortaa"/>
              <a:buChar char="●"/>
            </a:pPr>
            <a:r>
              <a:rPr lang="en" sz="2000">
                <a:solidFill>
                  <a:srgbClr val="FCFCFC"/>
                </a:solidFill>
                <a:latin typeface="Comfortaa"/>
                <a:ea typeface="Comfortaa"/>
                <a:cs typeface="Comfortaa"/>
                <a:sym typeface="Comfortaa"/>
              </a:rPr>
              <a:t>Total Dataset Size: 953 Tracks.</a:t>
            </a:r>
            <a:endParaRPr sz="2000">
              <a:solidFill>
                <a:srgbClr val="FCFCFC"/>
              </a:solidFill>
              <a:latin typeface="Comfortaa"/>
              <a:ea typeface="Comfortaa"/>
              <a:cs typeface="Comfortaa"/>
              <a:sym typeface="Comfortaa"/>
            </a:endParaRPr>
          </a:p>
          <a:p>
            <a:pPr indent="-355600" lvl="0" marL="457200" rtl="0" algn="l">
              <a:spcBef>
                <a:spcPts val="0"/>
              </a:spcBef>
              <a:spcAft>
                <a:spcPts val="0"/>
              </a:spcAft>
              <a:buClr>
                <a:srgbClr val="FCFCFC"/>
              </a:buClr>
              <a:buSzPts val="2000"/>
              <a:buFont typeface="Comfortaa"/>
              <a:buChar char="●"/>
            </a:pPr>
            <a:r>
              <a:rPr lang="en" sz="2000">
                <a:solidFill>
                  <a:srgbClr val="FCFCFC"/>
                </a:solidFill>
                <a:latin typeface="Comfortaa"/>
                <a:ea typeface="Comfortaa"/>
                <a:cs typeface="Comfortaa"/>
                <a:sym typeface="Comfortaa"/>
              </a:rPr>
              <a:t>Top Song: </a:t>
            </a:r>
            <a:r>
              <a:rPr i="1" lang="en" sz="2000">
                <a:solidFill>
                  <a:srgbClr val="FCFCFC"/>
                </a:solidFill>
                <a:latin typeface="Comfortaa"/>
                <a:ea typeface="Comfortaa"/>
                <a:cs typeface="Comfortaa"/>
                <a:sym typeface="Comfortaa"/>
              </a:rPr>
              <a:t>Blinding Lights</a:t>
            </a:r>
            <a:r>
              <a:rPr lang="en" sz="2000">
                <a:solidFill>
                  <a:srgbClr val="FCFCFC"/>
                </a:solidFill>
                <a:latin typeface="Comfortaa"/>
                <a:ea typeface="Comfortaa"/>
                <a:cs typeface="Comfortaa"/>
                <a:sym typeface="Comfortaa"/>
              </a:rPr>
              <a:t> by The Weeknd (~3.7B Streams).</a:t>
            </a:r>
            <a:endParaRPr sz="2000">
              <a:solidFill>
                <a:srgbClr val="FCFCFC"/>
              </a:solidFill>
              <a:latin typeface="Comfortaa"/>
              <a:ea typeface="Comfortaa"/>
              <a:cs typeface="Comfortaa"/>
              <a:sym typeface="Comfortaa"/>
            </a:endParaRPr>
          </a:p>
          <a:p>
            <a:pPr indent="-355600" lvl="0" marL="457200" rtl="0" algn="l">
              <a:spcBef>
                <a:spcPts val="0"/>
              </a:spcBef>
              <a:spcAft>
                <a:spcPts val="0"/>
              </a:spcAft>
              <a:buClr>
                <a:srgbClr val="FCFCFC"/>
              </a:buClr>
              <a:buSzPts val="2000"/>
              <a:buFont typeface="Comfortaa"/>
              <a:buChar char="●"/>
            </a:pPr>
            <a:r>
              <a:rPr lang="en" sz="2000">
                <a:solidFill>
                  <a:srgbClr val="FCFCFC"/>
                </a:solidFill>
                <a:latin typeface="Comfortaa"/>
                <a:ea typeface="Comfortaa"/>
                <a:cs typeface="Comfortaa"/>
                <a:sym typeface="Comfortaa"/>
              </a:rPr>
              <a:t>Leading Artist: Taylor Swift (34 appearances in the dataset).</a:t>
            </a:r>
            <a:endParaRPr sz="2000">
              <a:solidFill>
                <a:srgbClr val="FCFCFC"/>
              </a:solidFill>
              <a:latin typeface="Comfortaa"/>
              <a:ea typeface="Comfortaa"/>
              <a:cs typeface="Comfortaa"/>
              <a:sym typeface="Comfortaa"/>
            </a:endParaRPr>
          </a:p>
          <a:p>
            <a:pPr indent="0" lvl="0" marL="0" rtl="0" algn="l">
              <a:spcBef>
                <a:spcPts val="1200"/>
              </a:spcBef>
              <a:spcAft>
                <a:spcPts val="0"/>
              </a:spcAft>
              <a:buNone/>
            </a:pPr>
            <a:r>
              <a:t/>
            </a:r>
            <a:endParaRPr>
              <a:solidFill>
                <a:srgbClr val="FCFCFC"/>
              </a:solidFill>
              <a:latin typeface="Comfortaa"/>
              <a:ea typeface="Comfortaa"/>
              <a:cs typeface="Comfortaa"/>
              <a:sym typeface="Comfortaa"/>
            </a:endParaRPr>
          </a:p>
          <a:p>
            <a:pPr indent="0" lvl="0" marL="0" rtl="0" algn="l">
              <a:spcBef>
                <a:spcPts val="1200"/>
              </a:spcBef>
              <a:spcAft>
                <a:spcPts val="1200"/>
              </a:spcAft>
              <a:buNone/>
            </a:pPr>
            <a:r>
              <a:t/>
            </a:r>
            <a:endParaRPr>
              <a:solidFill>
                <a:srgbClr val="FCFCFC"/>
              </a:solidFill>
              <a:latin typeface="Comfortaa"/>
              <a:ea typeface="Comfortaa"/>
              <a:cs typeface="Comfortaa"/>
              <a:sym typeface="Comfortaa"/>
            </a:endParaRPr>
          </a:p>
        </p:txBody>
      </p:sp>
      <p:pic>
        <p:nvPicPr>
          <p:cNvPr descr="music notes icon. Filled music notes icon for website design and mobile, app development. music notes icon from filled music instruments collection isolated on black background. (Provided by Getty Images)" id="76" name="Google Shape;76;p15"/>
          <p:cNvPicPr preferRelativeResize="0"/>
          <p:nvPr/>
        </p:nvPicPr>
        <p:blipFill rotWithShape="1">
          <a:blip r:embed="rId3">
            <a:alphaModFix/>
          </a:blip>
          <a:srcRect b="27145" l="27060" r="22462" t="31481"/>
          <a:stretch/>
        </p:blipFill>
        <p:spPr>
          <a:xfrm>
            <a:off x="6547751" y="0"/>
            <a:ext cx="2596250" cy="212814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414"/>
        </a:solidFill>
      </p:bgPr>
    </p:bg>
    <p:spTree>
      <p:nvGrpSpPr>
        <p:cNvPr id="80" name="Shape 80"/>
        <p:cNvGrpSpPr/>
        <p:nvPr/>
      </p:nvGrpSpPr>
      <p:grpSpPr>
        <a:xfrm>
          <a:off x="0" y="0"/>
          <a:ext cx="0" cy="0"/>
          <a:chOff x="0" y="0"/>
          <a:chExt cx="0" cy="0"/>
        </a:xfrm>
      </p:grpSpPr>
      <p:sp>
        <p:nvSpPr>
          <p:cNvPr id="81" name="Google Shape;8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solidFill>
                  <a:srgbClr val="1DB954"/>
                </a:solidFill>
              </a:rPr>
              <a:t>Questions</a:t>
            </a:r>
            <a:endParaRPr>
              <a:solidFill>
                <a:srgbClr val="1DB954"/>
              </a:solidFill>
            </a:endParaRPr>
          </a:p>
        </p:txBody>
      </p:sp>
      <p:sp>
        <p:nvSpPr>
          <p:cNvPr id="82" name="Google Shape;82;p16"/>
          <p:cNvSpPr txBox="1"/>
          <p:nvPr>
            <p:ph idx="1" type="body"/>
          </p:nvPr>
        </p:nvSpPr>
        <p:spPr>
          <a:xfrm>
            <a:off x="311700" y="1458425"/>
            <a:ext cx="8520600" cy="33729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Clr>
                <a:srgbClr val="FCFCFC"/>
              </a:buClr>
              <a:buSzPts val="2000"/>
              <a:buFont typeface="Comfortaa"/>
              <a:buAutoNum type="arabicPeriod"/>
            </a:pPr>
            <a:r>
              <a:rPr lang="en" sz="2000">
                <a:solidFill>
                  <a:srgbClr val="FCFCFC"/>
                </a:solidFill>
                <a:latin typeface="Comfortaa"/>
                <a:ea typeface="Comfortaa"/>
                <a:cs typeface="Comfortaa"/>
                <a:sym typeface="Comfortaa"/>
              </a:rPr>
              <a:t>Which top 10 songs have the highest streams?</a:t>
            </a:r>
            <a:endParaRPr sz="2000">
              <a:solidFill>
                <a:srgbClr val="FCFCFC"/>
              </a:solidFill>
              <a:latin typeface="Comfortaa"/>
              <a:ea typeface="Comfortaa"/>
              <a:cs typeface="Comfortaa"/>
              <a:sym typeface="Comfortaa"/>
            </a:endParaRPr>
          </a:p>
          <a:p>
            <a:pPr indent="-355600" lvl="0" marL="457200" rtl="0" algn="l">
              <a:spcBef>
                <a:spcPts val="0"/>
              </a:spcBef>
              <a:spcAft>
                <a:spcPts val="0"/>
              </a:spcAft>
              <a:buClr>
                <a:srgbClr val="FCFCFC"/>
              </a:buClr>
              <a:buSzPts val="2000"/>
              <a:buFont typeface="Comfortaa"/>
              <a:buAutoNum type="arabicPeriod"/>
            </a:pPr>
            <a:r>
              <a:rPr lang="en" sz="2000">
                <a:solidFill>
                  <a:srgbClr val="FCFCFC"/>
                </a:solidFill>
                <a:latin typeface="Comfortaa"/>
                <a:ea typeface="Comfortaa"/>
                <a:cs typeface="Comfortaa"/>
                <a:sym typeface="Comfortaa"/>
              </a:rPr>
              <a:t>Which artists appear most frequently?</a:t>
            </a:r>
            <a:endParaRPr sz="2000">
              <a:solidFill>
                <a:srgbClr val="FCFCFC"/>
              </a:solidFill>
              <a:latin typeface="Comfortaa"/>
              <a:ea typeface="Comfortaa"/>
              <a:cs typeface="Comfortaa"/>
              <a:sym typeface="Comfortaa"/>
            </a:endParaRPr>
          </a:p>
          <a:p>
            <a:pPr indent="-355600" lvl="0" marL="457200" rtl="0" algn="l">
              <a:spcBef>
                <a:spcPts val="0"/>
              </a:spcBef>
              <a:spcAft>
                <a:spcPts val="0"/>
              </a:spcAft>
              <a:buClr>
                <a:srgbClr val="FCFCFC"/>
              </a:buClr>
              <a:buSzPts val="2000"/>
              <a:buFont typeface="Comfortaa"/>
              <a:buAutoNum type="arabicPeriod"/>
            </a:pPr>
            <a:r>
              <a:rPr lang="en" sz="2000">
                <a:solidFill>
                  <a:srgbClr val="FCFCFC"/>
                </a:solidFill>
                <a:latin typeface="Comfortaa"/>
                <a:ea typeface="Comfortaa"/>
                <a:cs typeface="Comfortaa"/>
                <a:sym typeface="Comfortaa"/>
              </a:rPr>
              <a:t>Which platform gives the highest exposure, Spotify, Apple, or Deezer</a:t>
            </a:r>
            <a:endParaRPr sz="2000">
              <a:solidFill>
                <a:srgbClr val="FCFCFC"/>
              </a:solidFill>
              <a:latin typeface="Comfortaa"/>
              <a:ea typeface="Comfortaa"/>
              <a:cs typeface="Comfortaa"/>
              <a:sym typeface="Comfortaa"/>
            </a:endParaRPr>
          </a:p>
          <a:p>
            <a:pPr indent="-355600" lvl="0" marL="457200" rtl="0" algn="l">
              <a:spcBef>
                <a:spcPts val="0"/>
              </a:spcBef>
              <a:spcAft>
                <a:spcPts val="0"/>
              </a:spcAft>
              <a:buClr>
                <a:srgbClr val="FCFCFC"/>
              </a:buClr>
              <a:buSzPts val="2000"/>
              <a:buFont typeface="Comfortaa"/>
              <a:buAutoNum type="arabicPeriod"/>
            </a:pPr>
            <a:r>
              <a:rPr lang="en" sz="2000">
                <a:solidFill>
                  <a:srgbClr val="FCFCFC"/>
                </a:solidFill>
                <a:latin typeface="Comfortaa"/>
                <a:ea typeface="Comfortaa"/>
                <a:cs typeface="Comfortaa"/>
                <a:sym typeface="Comfortaa"/>
              </a:rPr>
              <a:t>Has song popularity increased over years?</a:t>
            </a:r>
            <a:endParaRPr sz="2000">
              <a:solidFill>
                <a:srgbClr val="FCFCFC"/>
              </a:solidFill>
              <a:latin typeface="Comfortaa"/>
              <a:ea typeface="Comfortaa"/>
              <a:cs typeface="Comfortaa"/>
              <a:sym typeface="Comfortaa"/>
            </a:endParaRPr>
          </a:p>
          <a:p>
            <a:pPr indent="0" lvl="0" marL="0" rtl="0" algn="l">
              <a:spcBef>
                <a:spcPts val="1200"/>
              </a:spcBef>
              <a:spcAft>
                <a:spcPts val="1200"/>
              </a:spcAft>
              <a:buNone/>
            </a:pPr>
            <a:r>
              <a:t/>
            </a:r>
            <a:endParaRPr sz="1200">
              <a:solidFill>
                <a:srgbClr val="000000"/>
              </a:solidFill>
              <a:highlight>
                <a:srgbClr val="FFFF00"/>
              </a:highlight>
              <a:latin typeface="Arial"/>
              <a:ea typeface="Arial"/>
              <a:cs typeface="Arial"/>
              <a:sym typeface="Arial"/>
            </a:endParaRPr>
          </a:p>
        </p:txBody>
      </p:sp>
      <p:pic>
        <p:nvPicPr>
          <p:cNvPr descr="music notes icon. Filled music notes icon for website design and mobile, app development. music notes icon from filled music instruments collection isolated on black background. (Provided by Getty Images)" id="83" name="Google Shape;83;p16"/>
          <p:cNvPicPr preferRelativeResize="0"/>
          <p:nvPr/>
        </p:nvPicPr>
        <p:blipFill rotWithShape="1">
          <a:blip r:embed="rId3">
            <a:alphaModFix/>
          </a:blip>
          <a:srcRect b="27145" l="27060" r="22462" t="31481"/>
          <a:stretch/>
        </p:blipFill>
        <p:spPr>
          <a:xfrm>
            <a:off x="6547751" y="0"/>
            <a:ext cx="2596250" cy="21281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414"/>
        </a:solidFill>
      </p:bgPr>
    </p:bg>
    <p:spTree>
      <p:nvGrpSpPr>
        <p:cNvPr id="87" name="Shape 87"/>
        <p:cNvGrpSpPr/>
        <p:nvPr/>
      </p:nvGrpSpPr>
      <p:grpSpPr>
        <a:xfrm>
          <a:off x="0" y="0"/>
          <a:ext cx="0" cy="0"/>
          <a:chOff x="0" y="0"/>
          <a:chExt cx="0" cy="0"/>
        </a:xfrm>
      </p:grpSpPr>
      <p:sp>
        <p:nvSpPr>
          <p:cNvPr id="88" name="Google Shape;8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solidFill>
                  <a:srgbClr val="1DB954"/>
                </a:solidFill>
              </a:rPr>
              <a:t>Top 10 Global Hits (by Streams)</a:t>
            </a:r>
            <a:endParaRPr>
              <a:solidFill>
                <a:srgbClr val="1DB954"/>
              </a:solidFill>
            </a:endParaRPr>
          </a:p>
        </p:txBody>
      </p:sp>
      <p:sp>
        <p:nvSpPr>
          <p:cNvPr id="89" name="Google Shape;89;p17"/>
          <p:cNvSpPr txBox="1"/>
          <p:nvPr>
            <p:ph idx="1" type="body"/>
          </p:nvPr>
        </p:nvSpPr>
        <p:spPr>
          <a:xfrm>
            <a:off x="311700" y="1325325"/>
            <a:ext cx="8520600" cy="25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000">
                <a:solidFill>
                  <a:srgbClr val="FCFCFC"/>
                </a:solidFill>
                <a:latin typeface="Arial"/>
                <a:ea typeface="Arial"/>
                <a:cs typeface="Arial"/>
                <a:sym typeface="Arial"/>
              </a:rPr>
              <a:t>Blinding Lights</a:t>
            </a:r>
            <a:r>
              <a:rPr lang="en" sz="2000">
                <a:solidFill>
                  <a:srgbClr val="FCFCFC"/>
                </a:solidFill>
                <a:latin typeface="Arial"/>
                <a:ea typeface="Arial"/>
                <a:cs typeface="Arial"/>
                <a:sym typeface="Arial"/>
              </a:rPr>
              <a:t> (3.7B)</a:t>
            </a:r>
            <a:endParaRPr sz="2000">
              <a:solidFill>
                <a:srgbClr val="FCFCFC"/>
              </a:solidFill>
              <a:latin typeface="Arial"/>
              <a:ea typeface="Arial"/>
              <a:cs typeface="Arial"/>
              <a:sym typeface="Arial"/>
            </a:endParaRPr>
          </a:p>
          <a:p>
            <a:pPr indent="0" lvl="0" marL="0" rtl="0" algn="l">
              <a:spcBef>
                <a:spcPts val="1200"/>
              </a:spcBef>
              <a:spcAft>
                <a:spcPts val="0"/>
              </a:spcAft>
              <a:buNone/>
            </a:pPr>
            <a:r>
              <a:rPr i="1" lang="en" sz="2000">
                <a:solidFill>
                  <a:srgbClr val="FCFCFC"/>
                </a:solidFill>
                <a:latin typeface="Arial"/>
                <a:ea typeface="Arial"/>
                <a:cs typeface="Arial"/>
                <a:sym typeface="Arial"/>
              </a:rPr>
              <a:t>Shape of You</a:t>
            </a:r>
            <a:r>
              <a:rPr lang="en" sz="2000">
                <a:solidFill>
                  <a:srgbClr val="FCFCFC"/>
                </a:solidFill>
                <a:latin typeface="Arial"/>
                <a:ea typeface="Arial"/>
                <a:cs typeface="Arial"/>
                <a:sym typeface="Arial"/>
              </a:rPr>
              <a:t> (3.5B)</a:t>
            </a:r>
            <a:endParaRPr sz="2000">
              <a:solidFill>
                <a:srgbClr val="FCFCFC"/>
              </a:solidFill>
              <a:latin typeface="Arial"/>
              <a:ea typeface="Arial"/>
              <a:cs typeface="Arial"/>
              <a:sym typeface="Arial"/>
            </a:endParaRPr>
          </a:p>
          <a:p>
            <a:pPr indent="0" lvl="0" marL="0" rtl="0" algn="l">
              <a:spcBef>
                <a:spcPts val="1200"/>
              </a:spcBef>
              <a:spcAft>
                <a:spcPts val="0"/>
              </a:spcAft>
              <a:buNone/>
            </a:pPr>
            <a:r>
              <a:rPr i="1" lang="en" sz="2000">
                <a:solidFill>
                  <a:srgbClr val="FCFCFC"/>
                </a:solidFill>
                <a:latin typeface="Arial"/>
                <a:ea typeface="Arial"/>
                <a:cs typeface="Arial"/>
                <a:sym typeface="Arial"/>
              </a:rPr>
              <a:t>Someone You Loved</a:t>
            </a:r>
            <a:r>
              <a:rPr lang="en" sz="2000">
                <a:solidFill>
                  <a:srgbClr val="FCFCFC"/>
                </a:solidFill>
                <a:latin typeface="Arial"/>
                <a:ea typeface="Arial"/>
                <a:cs typeface="Arial"/>
                <a:sym typeface="Arial"/>
              </a:rPr>
              <a:t> (2.8B)</a:t>
            </a:r>
            <a:endParaRPr sz="2000">
              <a:solidFill>
                <a:srgbClr val="FCFCFC"/>
              </a:solidFill>
              <a:latin typeface="Arial"/>
              <a:ea typeface="Arial"/>
              <a:cs typeface="Arial"/>
              <a:sym typeface="Arial"/>
            </a:endParaRPr>
          </a:p>
          <a:p>
            <a:pPr indent="0" lvl="0" marL="0" rtl="0" algn="l">
              <a:spcBef>
                <a:spcPts val="1200"/>
              </a:spcBef>
              <a:spcAft>
                <a:spcPts val="0"/>
              </a:spcAft>
              <a:buNone/>
            </a:pPr>
            <a:r>
              <a:rPr i="1" lang="en" sz="2000">
                <a:solidFill>
                  <a:srgbClr val="FCFCFC"/>
                </a:solidFill>
                <a:latin typeface="Arial"/>
                <a:ea typeface="Arial"/>
                <a:cs typeface="Arial"/>
                <a:sym typeface="Arial"/>
              </a:rPr>
              <a:t>Dance Monkey</a:t>
            </a:r>
            <a:r>
              <a:rPr lang="en" sz="2000">
                <a:solidFill>
                  <a:srgbClr val="FCFCFC"/>
                </a:solidFill>
                <a:latin typeface="Arial"/>
                <a:ea typeface="Arial"/>
                <a:cs typeface="Arial"/>
                <a:sym typeface="Arial"/>
              </a:rPr>
              <a:t> (2.8B)</a:t>
            </a:r>
            <a:endParaRPr sz="2000">
              <a:solidFill>
                <a:srgbClr val="FCFCFC"/>
              </a:solidFill>
              <a:latin typeface="Arial"/>
              <a:ea typeface="Arial"/>
              <a:cs typeface="Arial"/>
              <a:sym typeface="Arial"/>
            </a:endParaRPr>
          </a:p>
          <a:p>
            <a:pPr indent="0" lvl="0" marL="0" rtl="0" algn="l">
              <a:spcBef>
                <a:spcPts val="1200"/>
              </a:spcBef>
              <a:spcAft>
                <a:spcPts val="1200"/>
              </a:spcAft>
              <a:buNone/>
            </a:pPr>
            <a:r>
              <a:rPr i="1" lang="en" sz="2000">
                <a:solidFill>
                  <a:srgbClr val="FCFCFC"/>
                </a:solidFill>
                <a:latin typeface="Arial"/>
                <a:ea typeface="Arial"/>
                <a:cs typeface="Arial"/>
                <a:sym typeface="Arial"/>
              </a:rPr>
              <a:t>Save Your Tears</a:t>
            </a:r>
            <a:r>
              <a:rPr lang="en" sz="2000">
                <a:solidFill>
                  <a:srgbClr val="FCFCFC"/>
                </a:solidFill>
                <a:latin typeface="Arial"/>
                <a:ea typeface="Arial"/>
                <a:cs typeface="Arial"/>
                <a:sym typeface="Arial"/>
              </a:rPr>
              <a:t> (2.8B)</a:t>
            </a:r>
            <a:endParaRPr b="1" sz="2000">
              <a:solidFill>
                <a:srgbClr val="FCFCFC"/>
              </a:solidFill>
              <a:latin typeface="Comfortaa"/>
              <a:ea typeface="Comfortaa"/>
              <a:cs typeface="Comfortaa"/>
              <a:sym typeface="Comfortaa"/>
            </a:endParaRPr>
          </a:p>
        </p:txBody>
      </p:sp>
      <p:pic>
        <p:nvPicPr>
          <p:cNvPr id="90" name="Google Shape;90;p17"/>
          <p:cNvPicPr preferRelativeResize="0"/>
          <p:nvPr/>
        </p:nvPicPr>
        <p:blipFill rotWithShape="1">
          <a:blip r:embed="rId3">
            <a:alphaModFix/>
          </a:blip>
          <a:srcRect b="1952" l="4466" r="3060" t="5067"/>
          <a:stretch/>
        </p:blipFill>
        <p:spPr>
          <a:xfrm>
            <a:off x="3886250" y="1216475"/>
            <a:ext cx="4796376" cy="3219450"/>
          </a:xfrm>
          <a:prstGeom prst="rect">
            <a:avLst/>
          </a:prstGeom>
          <a:noFill/>
          <a:ln>
            <a:noFill/>
          </a:ln>
        </p:spPr>
      </p:pic>
      <p:pic>
        <p:nvPicPr>
          <p:cNvPr descr="music notes icon. Filled music notes icon for website design and mobile, app development. music notes icon from filled music instruments collection isolated on black background. (Provided by Getty Images)" id="91" name="Google Shape;91;p17"/>
          <p:cNvPicPr preferRelativeResize="0"/>
          <p:nvPr/>
        </p:nvPicPr>
        <p:blipFill rotWithShape="1">
          <a:blip r:embed="rId4">
            <a:alphaModFix/>
          </a:blip>
          <a:srcRect b="27145" l="27060" r="22462" t="31481"/>
          <a:stretch/>
        </p:blipFill>
        <p:spPr>
          <a:xfrm>
            <a:off x="6996800" y="0"/>
            <a:ext cx="2147200" cy="17600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414"/>
        </a:solidFill>
      </p:bgPr>
    </p:bg>
    <p:spTree>
      <p:nvGrpSpPr>
        <p:cNvPr id="95" name="Shape 95"/>
        <p:cNvGrpSpPr/>
        <p:nvPr/>
      </p:nvGrpSpPr>
      <p:grpSpPr>
        <a:xfrm>
          <a:off x="0" y="0"/>
          <a:ext cx="0" cy="0"/>
          <a:chOff x="0" y="0"/>
          <a:chExt cx="0" cy="0"/>
        </a:xfrm>
      </p:grpSpPr>
      <p:pic>
        <p:nvPicPr>
          <p:cNvPr id="96" name="Google Shape;96;p18"/>
          <p:cNvPicPr preferRelativeResize="0"/>
          <p:nvPr/>
        </p:nvPicPr>
        <p:blipFill rotWithShape="1">
          <a:blip r:embed="rId3">
            <a:alphaModFix/>
          </a:blip>
          <a:srcRect b="2539" l="16754" r="9078" t="4080"/>
          <a:stretch/>
        </p:blipFill>
        <p:spPr>
          <a:xfrm>
            <a:off x="4849575" y="87375"/>
            <a:ext cx="4190976" cy="4136275"/>
          </a:xfrm>
          <a:prstGeom prst="rect">
            <a:avLst/>
          </a:prstGeom>
          <a:noFill/>
          <a:ln>
            <a:noFill/>
          </a:ln>
        </p:spPr>
      </p:pic>
      <p:sp>
        <p:nvSpPr>
          <p:cNvPr id="97" name="Google Shape;9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solidFill>
                  <a:srgbClr val="1DB954"/>
                </a:solidFill>
              </a:rPr>
              <a:t>Most Streamed Artists</a:t>
            </a:r>
            <a:endParaRPr>
              <a:solidFill>
                <a:srgbClr val="1DB954"/>
              </a:solidFill>
            </a:endParaRPr>
          </a:p>
        </p:txBody>
      </p:sp>
      <p:sp>
        <p:nvSpPr>
          <p:cNvPr id="98" name="Google Shape;98;p18"/>
          <p:cNvSpPr txBox="1"/>
          <p:nvPr>
            <p:ph idx="1" type="body"/>
          </p:nvPr>
        </p:nvSpPr>
        <p:spPr>
          <a:xfrm>
            <a:off x="311700" y="1152475"/>
            <a:ext cx="8520600" cy="2128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2000">
                <a:solidFill>
                  <a:srgbClr val="FCFCFC"/>
                </a:solidFill>
                <a:latin typeface="Comfortaa"/>
                <a:ea typeface="Comfortaa"/>
                <a:cs typeface="Comfortaa"/>
                <a:sym typeface="Comfortaa"/>
              </a:rPr>
              <a:t>Most Frequent Artists:</a:t>
            </a:r>
            <a:endParaRPr b="1" sz="2000">
              <a:solidFill>
                <a:srgbClr val="FCFCFC"/>
              </a:solidFill>
              <a:latin typeface="Comfortaa"/>
              <a:ea typeface="Comfortaa"/>
              <a:cs typeface="Comfortaa"/>
              <a:sym typeface="Comfortaa"/>
            </a:endParaRPr>
          </a:p>
          <a:p>
            <a:pPr indent="-355600" lvl="0" marL="457200" rtl="0" algn="l">
              <a:spcBef>
                <a:spcPts val="1200"/>
              </a:spcBef>
              <a:spcAft>
                <a:spcPts val="0"/>
              </a:spcAft>
              <a:buClr>
                <a:srgbClr val="FCFCFC"/>
              </a:buClr>
              <a:buSzPts val="2000"/>
              <a:buFont typeface="Arial"/>
              <a:buChar char="●"/>
            </a:pPr>
            <a:r>
              <a:rPr b="1" lang="en" sz="2000">
                <a:solidFill>
                  <a:srgbClr val="FCFCFC"/>
                </a:solidFill>
                <a:latin typeface="Comfortaa"/>
                <a:ea typeface="Comfortaa"/>
                <a:cs typeface="Comfortaa"/>
                <a:sym typeface="Comfortaa"/>
              </a:rPr>
              <a:t>Taylor Swift:</a:t>
            </a:r>
            <a:r>
              <a:rPr lang="en" sz="2000">
                <a:solidFill>
                  <a:srgbClr val="FCFCFC"/>
                </a:solidFill>
                <a:latin typeface="Comfortaa"/>
                <a:ea typeface="Comfortaa"/>
                <a:cs typeface="Comfortaa"/>
                <a:sym typeface="Comfortaa"/>
              </a:rPr>
              <a:t> 34 Songs</a:t>
            </a:r>
            <a:endParaRPr sz="2000">
              <a:solidFill>
                <a:srgbClr val="FCFCFC"/>
              </a:solidFill>
              <a:latin typeface="Comfortaa"/>
              <a:ea typeface="Comfortaa"/>
              <a:cs typeface="Comfortaa"/>
              <a:sym typeface="Comfortaa"/>
            </a:endParaRPr>
          </a:p>
          <a:p>
            <a:pPr indent="-355600" lvl="0" marL="457200" rtl="0" algn="l">
              <a:spcBef>
                <a:spcPts val="0"/>
              </a:spcBef>
              <a:spcAft>
                <a:spcPts val="0"/>
              </a:spcAft>
              <a:buClr>
                <a:srgbClr val="FCFCFC"/>
              </a:buClr>
              <a:buSzPts val="2000"/>
              <a:buFont typeface="Arial"/>
              <a:buChar char="●"/>
            </a:pPr>
            <a:r>
              <a:rPr b="1" lang="en" sz="2000">
                <a:solidFill>
                  <a:srgbClr val="FCFCFC"/>
                </a:solidFill>
                <a:latin typeface="Comfortaa"/>
                <a:ea typeface="Comfortaa"/>
                <a:cs typeface="Comfortaa"/>
                <a:sym typeface="Comfortaa"/>
              </a:rPr>
              <a:t>The Weeknd:</a:t>
            </a:r>
            <a:r>
              <a:rPr lang="en" sz="2000">
                <a:solidFill>
                  <a:srgbClr val="FCFCFC"/>
                </a:solidFill>
                <a:latin typeface="Comfortaa"/>
                <a:ea typeface="Comfortaa"/>
                <a:cs typeface="Comfortaa"/>
                <a:sym typeface="Comfortaa"/>
              </a:rPr>
              <a:t> 22 Songs</a:t>
            </a:r>
            <a:endParaRPr sz="2000">
              <a:solidFill>
                <a:srgbClr val="FCFCFC"/>
              </a:solidFill>
              <a:latin typeface="Comfortaa"/>
              <a:ea typeface="Comfortaa"/>
              <a:cs typeface="Comfortaa"/>
              <a:sym typeface="Comfortaa"/>
            </a:endParaRPr>
          </a:p>
          <a:p>
            <a:pPr indent="-355600" lvl="0" marL="457200" rtl="0" algn="l">
              <a:spcBef>
                <a:spcPts val="0"/>
              </a:spcBef>
              <a:spcAft>
                <a:spcPts val="0"/>
              </a:spcAft>
              <a:buClr>
                <a:srgbClr val="FCFCFC"/>
              </a:buClr>
              <a:buSzPts val="2000"/>
              <a:buFont typeface="Arial"/>
              <a:buChar char="●"/>
            </a:pPr>
            <a:r>
              <a:rPr b="1" lang="en" sz="2000">
                <a:solidFill>
                  <a:srgbClr val="FCFCFC"/>
                </a:solidFill>
                <a:latin typeface="Comfortaa"/>
                <a:ea typeface="Comfortaa"/>
                <a:cs typeface="Comfortaa"/>
                <a:sym typeface="Comfortaa"/>
              </a:rPr>
              <a:t>SZA / Bad Bunny:</a:t>
            </a:r>
            <a:r>
              <a:rPr lang="en" sz="2000">
                <a:solidFill>
                  <a:srgbClr val="FCFCFC"/>
                </a:solidFill>
                <a:latin typeface="Comfortaa"/>
                <a:ea typeface="Comfortaa"/>
                <a:cs typeface="Comfortaa"/>
                <a:sym typeface="Comfortaa"/>
              </a:rPr>
              <a:t> 19 Songs each</a:t>
            </a:r>
            <a:endParaRPr b="1" sz="2000">
              <a:solidFill>
                <a:srgbClr val="FCFCFC"/>
              </a:solidFill>
              <a:latin typeface="Comfortaa"/>
              <a:ea typeface="Comfortaa"/>
              <a:cs typeface="Comfortaa"/>
              <a:sym typeface="Comfortaa"/>
            </a:endParaRPr>
          </a:p>
        </p:txBody>
      </p:sp>
      <p:pic>
        <p:nvPicPr>
          <p:cNvPr descr="music notes icon. Filled music notes icon for website design and mobile, app development. music notes icon from filled music instruments collection isolated on black background. (Provided by Getty Images)" id="99" name="Google Shape;99;p18"/>
          <p:cNvPicPr preferRelativeResize="0"/>
          <p:nvPr/>
        </p:nvPicPr>
        <p:blipFill rotWithShape="1">
          <a:blip r:embed="rId4">
            <a:alphaModFix/>
          </a:blip>
          <a:srcRect b="27145" l="27060" r="22462" t="31481"/>
          <a:stretch/>
        </p:blipFill>
        <p:spPr>
          <a:xfrm>
            <a:off x="166001" y="2933025"/>
            <a:ext cx="2596250" cy="212814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414"/>
        </a:solidFill>
      </p:bgPr>
    </p:bg>
    <p:spTree>
      <p:nvGrpSpPr>
        <p:cNvPr id="103" name="Shape 103"/>
        <p:cNvGrpSpPr/>
        <p:nvPr/>
      </p:nvGrpSpPr>
      <p:grpSpPr>
        <a:xfrm>
          <a:off x="0" y="0"/>
          <a:ext cx="0" cy="0"/>
          <a:chOff x="0" y="0"/>
          <a:chExt cx="0" cy="0"/>
        </a:xfrm>
      </p:grpSpPr>
      <p:sp>
        <p:nvSpPr>
          <p:cNvPr id="104" name="Google Shape;104;p19"/>
          <p:cNvSpPr txBox="1"/>
          <p:nvPr>
            <p:ph type="title"/>
          </p:nvPr>
        </p:nvSpPr>
        <p:spPr>
          <a:xfrm>
            <a:off x="311700" y="445025"/>
            <a:ext cx="6807600" cy="1125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600">
                <a:solidFill>
                  <a:srgbClr val="1DB954"/>
                </a:solidFill>
              </a:rPr>
              <a:t>Platform Performance: </a:t>
            </a:r>
            <a:endParaRPr b="1" sz="3600">
              <a:solidFill>
                <a:srgbClr val="1DB954"/>
              </a:solidFill>
            </a:endParaRPr>
          </a:p>
          <a:p>
            <a:pPr indent="0" lvl="0" marL="0" rtl="0" algn="l">
              <a:spcBef>
                <a:spcPts val="0"/>
              </a:spcBef>
              <a:spcAft>
                <a:spcPts val="0"/>
              </a:spcAft>
              <a:buNone/>
            </a:pPr>
            <a:r>
              <a:rPr b="1" lang="en" sz="3600">
                <a:solidFill>
                  <a:srgbClr val="1DB954"/>
                </a:solidFill>
              </a:rPr>
              <a:t>Spotify vs. Apple vs. Deezer</a:t>
            </a:r>
            <a:endParaRPr>
              <a:solidFill>
                <a:srgbClr val="1DB954"/>
              </a:solidFill>
            </a:endParaRPr>
          </a:p>
        </p:txBody>
      </p:sp>
      <p:sp>
        <p:nvSpPr>
          <p:cNvPr id="105" name="Google Shape;105;p19"/>
          <p:cNvSpPr txBox="1"/>
          <p:nvPr>
            <p:ph idx="1" type="body"/>
          </p:nvPr>
        </p:nvSpPr>
        <p:spPr>
          <a:xfrm>
            <a:off x="311700" y="1679125"/>
            <a:ext cx="8520600" cy="3075300"/>
          </a:xfrm>
          <a:prstGeom prst="rect">
            <a:avLst/>
          </a:prstGeom>
        </p:spPr>
        <p:txBody>
          <a:bodyPr anchorCtr="0" anchor="t" bIns="91425" lIns="91425" spcFirstLastPara="1" rIns="91425" wrap="square" tIns="91425">
            <a:noAutofit/>
          </a:bodyPr>
          <a:lstStyle/>
          <a:p>
            <a:pPr indent="-355600" lvl="0" marL="457200" rtl="0" algn="l">
              <a:spcBef>
                <a:spcPts val="1200"/>
              </a:spcBef>
              <a:spcAft>
                <a:spcPts val="0"/>
              </a:spcAft>
              <a:buClr>
                <a:srgbClr val="FCFCFC"/>
              </a:buClr>
              <a:buSzPts val="2000"/>
              <a:buFont typeface="Arial"/>
              <a:buChar char="●"/>
            </a:pPr>
            <a:r>
              <a:rPr b="1" lang="en" sz="2000">
                <a:solidFill>
                  <a:srgbClr val="FCFCFC"/>
                </a:solidFill>
                <a:latin typeface="Comfortaa"/>
                <a:ea typeface="Comfortaa"/>
                <a:cs typeface="Comfortaa"/>
                <a:sym typeface="Comfortaa"/>
              </a:rPr>
              <a:t>Spotify Playlists:</a:t>
            </a:r>
            <a:r>
              <a:rPr lang="en" sz="2000">
                <a:solidFill>
                  <a:srgbClr val="FCFCFC"/>
                </a:solidFill>
                <a:latin typeface="Comfortaa"/>
                <a:ea typeface="Comfortaa"/>
                <a:cs typeface="Comfortaa"/>
                <a:sym typeface="Comfortaa"/>
              </a:rPr>
              <a:t> </a:t>
            </a:r>
            <a:endParaRPr sz="2000">
              <a:solidFill>
                <a:srgbClr val="FCFCFC"/>
              </a:solidFill>
              <a:latin typeface="Comfortaa"/>
              <a:ea typeface="Comfortaa"/>
              <a:cs typeface="Comfortaa"/>
              <a:sym typeface="Comfortaa"/>
            </a:endParaRPr>
          </a:p>
          <a:p>
            <a:pPr indent="0" lvl="0" marL="457200" rtl="0" algn="l">
              <a:spcBef>
                <a:spcPts val="1200"/>
              </a:spcBef>
              <a:spcAft>
                <a:spcPts val="0"/>
              </a:spcAft>
              <a:buNone/>
            </a:pPr>
            <a:r>
              <a:rPr lang="en" sz="2000">
                <a:solidFill>
                  <a:srgbClr val="FCFCFC"/>
                </a:solidFill>
                <a:latin typeface="Comfortaa"/>
                <a:ea typeface="Comfortaa"/>
                <a:cs typeface="Comfortaa"/>
                <a:sym typeface="Comfortaa"/>
              </a:rPr>
              <a:t>~4.9M total inclusions.</a:t>
            </a:r>
            <a:endParaRPr sz="2000">
              <a:solidFill>
                <a:srgbClr val="FCFCFC"/>
              </a:solidFill>
              <a:latin typeface="Comfortaa"/>
              <a:ea typeface="Comfortaa"/>
              <a:cs typeface="Comfortaa"/>
              <a:sym typeface="Comfortaa"/>
            </a:endParaRPr>
          </a:p>
          <a:p>
            <a:pPr indent="-355600" lvl="0" marL="457200" rtl="0" algn="l">
              <a:spcBef>
                <a:spcPts val="1200"/>
              </a:spcBef>
              <a:spcAft>
                <a:spcPts val="0"/>
              </a:spcAft>
              <a:buClr>
                <a:srgbClr val="FCFCFC"/>
              </a:buClr>
              <a:buSzPts val="2000"/>
              <a:buFont typeface="Arial"/>
              <a:buChar char="●"/>
            </a:pPr>
            <a:r>
              <a:rPr b="1" lang="en" sz="2000">
                <a:solidFill>
                  <a:srgbClr val="FCFCFC"/>
                </a:solidFill>
                <a:latin typeface="Comfortaa"/>
                <a:ea typeface="Comfortaa"/>
                <a:cs typeface="Comfortaa"/>
                <a:sym typeface="Comfortaa"/>
              </a:rPr>
              <a:t>Deezer Playlists:</a:t>
            </a:r>
            <a:r>
              <a:rPr lang="en" sz="2000">
                <a:solidFill>
                  <a:srgbClr val="FCFCFC"/>
                </a:solidFill>
                <a:latin typeface="Comfortaa"/>
                <a:ea typeface="Comfortaa"/>
                <a:cs typeface="Comfortaa"/>
                <a:sym typeface="Comfortaa"/>
              </a:rPr>
              <a:t> </a:t>
            </a:r>
            <a:endParaRPr sz="2000">
              <a:solidFill>
                <a:srgbClr val="FCFCFC"/>
              </a:solidFill>
              <a:latin typeface="Comfortaa"/>
              <a:ea typeface="Comfortaa"/>
              <a:cs typeface="Comfortaa"/>
              <a:sym typeface="Comfortaa"/>
            </a:endParaRPr>
          </a:p>
          <a:p>
            <a:pPr indent="0" lvl="0" marL="457200" rtl="0" algn="l">
              <a:spcBef>
                <a:spcPts val="1200"/>
              </a:spcBef>
              <a:spcAft>
                <a:spcPts val="0"/>
              </a:spcAft>
              <a:buNone/>
            </a:pPr>
            <a:r>
              <a:rPr lang="en" sz="2000">
                <a:solidFill>
                  <a:srgbClr val="FCFCFC"/>
                </a:solidFill>
                <a:latin typeface="Comfortaa"/>
                <a:ea typeface="Comfortaa"/>
                <a:cs typeface="Comfortaa"/>
                <a:sym typeface="Comfortaa"/>
              </a:rPr>
              <a:t>~367k total inclusions.</a:t>
            </a:r>
            <a:endParaRPr sz="2000">
              <a:solidFill>
                <a:srgbClr val="FCFCFC"/>
              </a:solidFill>
              <a:latin typeface="Comfortaa"/>
              <a:ea typeface="Comfortaa"/>
              <a:cs typeface="Comfortaa"/>
              <a:sym typeface="Comfortaa"/>
            </a:endParaRPr>
          </a:p>
          <a:p>
            <a:pPr indent="-355600" lvl="0" marL="457200" rtl="0" algn="l">
              <a:spcBef>
                <a:spcPts val="1200"/>
              </a:spcBef>
              <a:spcAft>
                <a:spcPts val="0"/>
              </a:spcAft>
              <a:buClr>
                <a:srgbClr val="FCFCFC"/>
              </a:buClr>
              <a:buSzPts val="2000"/>
              <a:buFont typeface="Arial"/>
              <a:buChar char="●"/>
            </a:pPr>
            <a:r>
              <a:rPr b="1" lang="en" sz="2000">
                <a:solidFill>
                  <a:srgbClr val="FCFCFC"/>
                </a:solidFill>
                <a:latin typeface="Comfortaa"/>
                <a:ea typeface="Comfortaa"/>
                <a:cs typeface="Comfortaa"/>
                <a:sym typeface="Comfortaa"/>
              </a:rPr>
              <a:t>Apple Playlists:</a:t>
            </a:r>
            <a:r>
              <a:rPr lang="en" sz="2000">
                <a:solidFill>
                  <a:srgbClr val="FCFCFC"/>
                </a:solidFill>
                <a:latin typeface="Comfortaa"/>
                <a:ea typeface="Comfortaa"/>
                <a:cs typeface="Comfortaa"/>
                <a:sym typeface="Comfortaa"/>
              </a:rPr>
              <a:t> </a:t>
            </a:r>
            <a:endParaRPr sz="2000">
              <a:solidFill>
                <a:srgbClr val="FCFCFC"/>
              </a:solidFill>
              <a:latin typeface="Comfortaa"/>
              <a:ea typeface="Comfortaa"/>
              <a:cs typeface="Comfortaa"/>
              <a:sym typeface="Comfortaa"/>
            </a:endParaRPr>
          </a:p>
          <a:p>
            <a:pPr indent="0" lvl="0" marL="457200" rtl="0" algn="l">
              <a:spcBef>
                <a:spcPts val="1200"/>
              </a:spcBef>
              <a:spcAft>
                <a:spcPts val="0"/>
              </a:spcAft>
              <a:buNone/>
            </a:pPr>
            <a:r>
              <a:rPr lang="en" sz="2000">
                <a:solidFill>
                  <a:srgbClr val="FCFCFC"/>
                </a:solidFill>
                <a:latin typeface="Comfortaa"/>
                <a:ea typeface="Comfortaa"/>
                <a:cs typeface="Comfortaa"/>
                <a:sym typeface="Comfortaa"/>
              </a:rPr>
              <a:t>~64k total inclusions.</a:t>
            </a:r>
            <a:endParaRPr sz="2000">
              <a:solidFill>
                <a:srgbClr val="FCFCFC"/>
              </a:solidFill>
              <a:latin typeface="Comfortaa"/>
              <a:ea typeface="Comfortaa"/>
              <a:cs typeface="Comfortaa"/>
              <a:sym typeface="Comfortaa"/>
            </a:endParaRPr>
          </a:p>
          <a:p>
            <a:pPr indent="0" lvl="0" marL="457200" rtl="0" algn="l">
              <a:spcBef>
                <a:spcPts val="1200"/>
              </a:spcBef>
              <a:spcAft>
                <a:spcPts val="1200"/>
              </a:spcAft>
              <a:buNone/>
            </a:pPr>
            <a:r>
              <a:t/>
            </a:r>
            <a:endParaRPr b="1" sz="2000">
              <a:solidFill>
                <a:srgbClr val="FCFCFC"/>
              </a:solidFill>
              <a:latin typeface="Comfortaa"/>
              <a:ea typeface="Comfortaa"/>
              <a:cs typeface="Comfortaa"/>
              <a:sym typeface="Comfortaa"/>
            </a:endParaRPr>
          </a:p>
        </p:txBody>
      </p:sp>
      <p:pic>
        <p:nvPicPr>
          <p:cNvPr descr="music notes icon. Filled music notes icon for website design and mobile, app development. music notes icon from filled music instruments collection isolated on black background. (Provided by Getty Images)" id="106" name="Google Shape;106;p19"/>
          <p:cNvPicPr preferRelativeResize="0"/>
          <p:nvPr/>
        </p:nvPicPr>
        <p:blipFill rotWithShape="1">
          <a:blip r:embed="rId3">
            <a:alphaModFix/>
          </a:blip>
          <a:srcRect b="27145" l="27060" r="22462" t="31481"/>
          <a:stretch/>
        </p:blipFill>
        <p:spPr>
          <a:xfrm>
            <a:off x="6711051" y="-219700"/>
            <a:ext cx="2596250" cy="2128148"/>
          </a:xfrm>
          <a:prstGeom prst="rect">
            <a:avLst/>
          </a:prstGeom>
          <a:noFill/>
          <a:ln>
            <a:noFill/>
          </a:ln>
        </p:spPr>
      </p:pic>
      <p:pic>
        <p:nvPicPr>
          <p:cNvPr id="107" name="Google Shape;107;p19"/>
          <p:cNvPicPr preferRelativeResize="0"/>
          <p:nvPr/>
        </p:nvPicPr>
        <p:blipFill rotWithShape="1">
          <a:blip r:embed="rId4">
            <a:alphaModFix/>
          </a:blip>
          <a:srcRect b="3715" l="3721" r="3479" t="4322"/>
          <a:stretch/>
        </p:blipFill>
        <p:spPr>
          <a:xfrm>
            <a:off x="4572000" y="1502225"/>
            <a:ext cx="4490350" cy="3429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91414"/>
        </a:solidFill>
      </p:bgPr>
    </p:bg>
    <p:spTree>
      <p:nvGrpSpPr>
        <p:cNvPr id="111" name="Shape 111"/>
        <p:cNvGrpSpPr/>
        <p:nvPr/>
      </p:nvGrpSpPr>
      <p:grpSpPr>
        <a:xfrm>
          <a:off x="0" y="0"/>
          <a:ext cx="0" cy="0"/>
          <a:chOff x="0" y="0"/>
          <a:chExt cx="0" cy="0"/>
        </a:xfrm>
      </p:grpSpPr>
      <p:sp>
        <p:nvSpPr>
          <p:cNvPr id="112" name="Google Shape;112;p20"/>
          <p:cNvSpPr txBox="1"/>
          <p:nvPr>
            <p:ph type="title"/>
          </p:nvPr>
        </p:nvSpPr>
        <p:spPr>
          <a:xfrm>
            <a:off x="311700" y="302925"/>
            <a:ext cx="8520600" cy="1545900"/>
          </a:xfrm>
          <a:prstGeom prst="rect">
            <a:avLst/>
          </a:prstGeom>
        </p:spPr>
        <p:txBody>
          <a:bodyPr anchorCtr="0" anchor="t" bIns="91425" lIns="91425" spcFirstLastPara="1" rIns="91425" wrap="square" tIns="91425">
            <a:noAutofit/>
          </a:bodyPr>
          <a:lstStyle/>
          <a:p>
            <a:pPr indent="0" lvl="0" marL="0" rtl="0" algn="l">
              <a:lnSpc>
                <a:spcPct val="100000"/>
              </a:lnSpc>
              <a:spcBef>
                <a:spcPts val="1800"/>
              </a:spcBef>
              <a:spcAft>
                <a:spcPts val="0"/>
              </a:spcAft>
              <a:buNone/>
            </a:pPr>
            <a:r>
              <a:rPr b="1" lang="en" sz="3200">
                <a:solidFill>
                  <a:srgbClr val="1DB954"/>
                </a:solidFill>
                <a:latin typeface="Arial"/>
                <a:ea typeface="Arial"/>
                <a:cs typeface="Arial"/>
                <a:sym typeface="Arial"/>
              </a:rPr>
              <a:t>Release Year &amp; </a:t>
            </a:r>
            <a:endParaRPr b="1" sz="3200">
              <a:solidFill>
                <a:srgbClr val="1DB954"/>
              </a:solidFill>
              <a:latin typeface="Arial"/>
              <a:ea typeface="Arial"/>
              <a:cs typeface="Arial"/>
              <a:sym typeface="Arial"/>
            </a:endParaRPr>
          </a:p>
          <a:p>
            <a:pPr indent="0" lvl="0" marL="0" rtl="0" algn="l">
              <a:lnSpc>
                <a:spcPct val="100000"/>
              </a:lnSpc>
              <a:spcBef>
                <a:spcPts val="1800"/>
              </a:spcBef>
              <a:spcAft>
                <a:spcPts val="400"/>
              </a:spcAft>
              <a:buNone/>
            </a:pPr>
            <a:r>
              <a:rPr b="1" lang="en" sz="3200">
                <a:solidFill>
                  <a:srgbClr val="1DB954"/>
                </a:solidFill>
                <a:latin typeface="Arial"/>
                <a:ea typeface="Arial"/>
                <a:cs typeface="Arial"/>
                <a:sym typeface="Arial"/>
              </a:rPr>
              <a:t>Streaming Longevity</a:t>
            </a:r>
            <a:endParaRPr b="1" sz="3200">
              <a:solidFill>
                <a:srgbClr val="1DB954"/>
              </a:solidFill>
            </a:endParaRPr>
          </a:p>
        </p:txBody>
      </p:sp>
      <p:sp>
        <p:nvSpPr>
          <p:cNvPr id="113" name="Google Shape;113;p20"/>
          <p:cNvSpPr txBox="1"/>
          <p:nvPr>
            <p:ph idx="1" type="body"/>
          </p:nvPr>
        </p:nvSpPr>
        <p:spPr>
          <a:xfrm>
            <a:off x="311700" y="1848775"/>
            <a:ext cx="4260300" cy="2576400"/>
          </a:xfrm>
          <a:prstGeom prst="rect">
            <a:avLst/>
          </a:prstGeom>
        </p:spPr>
        <p:txBody>
          <a:bodyPr anchorCtr="0" anchor="t" bIns="91425" lIns="91425" spcFirstLastPara="1" rIns="91425" wrap="square" tIns="91425">
            <a:noAutofit/>
          </a:bodyPr>
          <a:lstStyle/>
          <a:p>
            <a:pPr indent="-355600" lvl="0" marL="457200" rtl="0" algn="l">
              <a:spcBef>
                <a:spcPts val="1200"/>
              </a:spcBef>
              <a:spcAft>
                <a:spcPts val="0"/>
              </a:spcAft>
              <a:buClr>
                <a:srgbClr val="FCFCFC"/>
              </a:buClr>
              <a:buSzPts val="2000"/>
              <a:buFont typeface="Comfortaa"/>
              <a:buChar char="●"/>
            </a:pPr>
            <a:r>
              <a:rPr lang="en" sz="2000">
                <a:solidFill>
                  <a:srgbClr val="FCFCFC"/>
                </a:solidFill>
                <a:latin typeface="Comfortaa"/>
                <a:ea typeface="Comfortaa"/>
                <a:cs typeface="Comfortaa"/>
                <a:sym typeface="Comfortaa"/>
              </a:rPr>
              <a:t>While 2022 and 2023 have the highest </a:t>
            </a:r>
            <a:r>
              <a:rPr i="1" lang="en" sz="2000">
                <a:solidFill>
                  <a:srgbClr val="FCFCFC"/>
                </a:solidFill>
                <a:latin typeface="Comfortaa"/>
                <a:ea typeface="Comfortaa"/>
                <a:cs typeface="Comfortaa"/>
                <a:sym typeface="Comfortaa"/>
              </a:rPr>
              <a:t>volume</a:t>
            </a:r>
            <a:r>
              <a:rPr lang="en" sz="2000">
                <a:solidFill>
                  <a:srgbClr val="FCFCFC"/>
                </a:solidFill>
                <a:latin typeface="Comfortaa"/>
                <a:ea typeface="Comfortaa"/>
                <a:cs typeface="Comfortaa"/>
                <a:sym typeface="Comfortaa"/>
              </a:rPr>
              <a:t> of tracks, years like 2020 maintain higher </a:t>
            </a:r>
            <a:r>
              <a:rPr i="1" lang="en" sz="2000">
                <a:solidFill>
                  <a:srgbClr val="FCFCFC"/>
                </a:solidFill>
                <a:latin typeface="Comfortaa"/>
                <a:ea typeface="Comfortaa"/>
                <a:cs typeface="Comfortaa"/>
                <a:sym typeface="Comfortaa"/>
              </a:rPr>
              <a:t>average</a:t>
            </a:r>
            <a:r>
              <a:rPr lang="en" sz="2000">
                <a:solidFill>
                  <a:srgbClr val="FCFCFC"/>
                </a:solidFill>
                <a:latin typeface="Comfortaa"/>
                <a:ea typeface="Comfortaa"/>
                <a:cs typeface="Comfortaa"/>
                <a:sym typeface="Comfortaa"/>
              </a:rPr>
              <a:t> streams per song.</a:t>
            </a:r>
            <a:endParaRPr sz="2000">
              <a:solidFill>
                <a:srgbClr val="FCFCFC"/>
              </a:solidFill>
              <a:latin typeface="Comfortaa"/>
              <a:ea typeface="Comfortaa"/>
              <a:cs typeface="Comfortaa"/>
              <a:sym typeface="Comfortaa"/>
            </a:endParaRPr>
          </a:p>
          <a:p>
            <a:pPr indent="0" lvl="0" marL="0" rtl="0" algn="l">
              <a:spcBef>
                <a:spcPts val="1200"/>
              </a:spcBef>
              <a:spcAft>
                <a:spcPts val="1200"/>
              </a:spcAft>
              <a:buNone/>
            </a:pPr>
            <a:r>
              <a:t/>
            </a:r>
            <a:endParaRPr b="1" sz="2000">
              <a:solidFill>
                <a:srgbClr val="FCFCFC"/>
              </a:solidFill>
              <a:latin typeface="Comfortaa"/>
              <a:ea typeface="Comfortaa"/>
              <a:cs typeface="Comfortaa"/>
              <a:sym typeface="Comfortaa"/>
            </a:endParaRPr>
          </a:p>
        </p:txBody>
      </p:sp>
      <p:pic>
        <p:nvPicPr>
          <p:cNvPr descr="music notes icon. Filled music notes icon for website design and mobile, app development. music notes icon from filled music instruments collection isolated on black background. (Provided by Getty Images)" id="114" name="Google Shape;114;p20"/>
          <p:cNvPicPr preferRelativeResize="0"/>
          <p:nvPr/>
        </p:nvPicPr>
        <p:blipFill rotWithShape="1">
          <a:blip r:embed="rId3">
            <a:alphaModFix/>
          </a:blip>
          <a:srcRect b="27145" l="27060" r="22462" t="31481"/>
          <a:stretch/>
        </p:blipFill>
        <p:spPr>
          <a:xfrm>
            <a:off x="6844426" y="-279325"/>
            <a:ext cx="2596250" cy="2128148"/>
          </a:xfrm>
          <a:prstGeom prst="rect">
            <a:avLst/>
          </a:prstGeom>
          <a:noFill/>
          <a:ln>
            <a:noFill/>
          </a:ln>
        </p:spPr>
      </p:pic>
      <p:pic>
        <p:nvPicPr>
          <p:cNvPr id="115" name="Google Shape;115;p20"/>
          <p:cNvPicPr preferRelativeResize="0"/>
          <p:nvPr/>
        </p:nvPicPr>
        <p:blipFill rotWithShape="1">
          <a:blip r:embed="rId4">
            <a:alphaModFix/>
          </a:blip>
          <a:srcRect b="3449" l="2603" r="1693" t="4807"/>
          <a:stretch/>
        </p:blipFill>
        <p:spPr>
          <a:xfrm>
            <a:off x="4522025" y="1447500"/>
            <a:ext cx="4621976" cy="3591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